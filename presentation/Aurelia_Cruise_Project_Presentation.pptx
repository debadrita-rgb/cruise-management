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Override1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93" r:id="rId3"/>
    <p:sldId id="267" r:id="rId4"/>
    <p:sldId id="266" r:id="rId5"/>
    <p:sldId id="268" r:id="rId6"/>
    <p:sldId id="269" r:id="rId7"/>
    <p:sldId id="270" r:id="rId8"/>
    <p:sldId id="271" r:id="rId9"/>
    <p:sldId id="272" r:id="rId10"/>
    <p:sldId id="290" r:id="rId11"/>
    <p:sldId id="284" r:id="rId12"/>
    <p:sldId id="277" r:id="rId13"/>
    <p:sldId id="281" r:id="rId14"/>
    <p:sldId id="258" r:id="rId15"/>
    <p:sldId id="288" r:id="rId16"/>
    <p:sldId id="287" r:id="rId17"/>
    <p:sldId id="289" r:id="rId18"/>
    <p:sldId id="282" r:id="rId19"/>
    <p:sldId id="292" r:id="rId20"/>
    <p:sldId id="259" r:id="rId21"/>
    <p:sldId id="260" r:id="rId22"/>
    <p:sldId id="291" r:id="rId23"/>
    <p:sldId id="261" r:id="rId24"/>
    <p:sldId id="262" r:id="rId25"/>
    <p:sldId id="263" r:id="rId26"/>
    <p:sldId id="264" r:id="rId27"/>
    <p:sldId id="265" r:id="rId28"/>
    <p:sldId id="283" r:id="rId29"/>
    <p:sldId id="285" r:id="rId30"/>
    <p:sldId id="273" r:id="rId31"/>
    <p:sldId id="274" r:id="rId32"/>
    <p:sldId id="276" r:id="rId33"/>
    <p:sldId id="279" r:id="rId34"/>
    <p:sldId id="286" r:id="rId35"/>
    <p:sldId id="280" r:id="rId3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660"/>
  </p:normalViewPr>
  <p:slideViewPr>
    <p:cSldViewPr snapToGrid="0" snapToObjects="1">
      <p:cViewPr varScale="1">
        <p:scale>
          <a:sx n="95" d="100"/>
          <a:sy n="95" d="100"/>
        </p:scale>
        <p:origin x="1090" y="9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ebadrita-rgb/Cruise-Management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2776672-5A4A-F600-D56D-44D8CD1312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4000" dirty="0">
                <a:solidFill>
                  <a:schemeClr val="bg1"/>
                </a:solidFill>
              </a:rPr>
              <a:t>Cruise Project Overview: Aurelia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chemeClr val="bg1"/>
                </a:solidFill>
              </a:rPr>
              <a:t>Welcome to Aurelia, a cutting-edge cruise management system designed to deliver an integrated experience across admin control, user management, service bookings, and customer interactions.</a:t>
            </a:r>
            <a:br>
              <a:rPr lang="en-US" sz="1800" dirty="0">
                <a:solidFill>
                  <a:schemeClr val="bg1"/>
                </a:solidFill>
              </a:rPr>
            </a:br>
            <a:r>
              <a:rPr lang="en-US" sz="1800" dirty="0">
                <a:solidFill>
                  <a:schemeClr val="bg1"/>
                </a:solidFill>
              </a:rPr>
              <a:t>It bridges frontend luxury with backend efficiency, offering a seamless, secure, and scalable platform for both cruise staff and voyagers.</a:t>
            </a:r>
          </a:p>
          <a:p>
            <a:pPr marL="0" indent="0" algn="ctr">
              <a:buNone/>
            </a:pPr>
            <a:r>
              <a:rPr lang="en-US" sz="1800" dirty="0">
                <a:solidFill>
                  <a:schemeClr val="bg1"/>
                </a:solidFill>
              </a:rPr>
              <a:t>Aurelia is a full-featured cruise management system combining luxury and convenience for voyagers and operators. It is built using the latest tech stack and focuses on performance, elegance, and ease of use.</a:t>
            </a:r>
          </a:p>
          <a:p>
            <a:endParaRPr lang="en-US" dirty="0"/>
          </a:p>
          <a:p>
            <a:endParaRPr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8A14F9B-C369-25D9-8A08-898DB91670AC}"/>
              </a:ext>
            </a:extLst>
          </p:cNvPr>
          <p:cNvCxnSpPr/>
          <p:nvPr/>
        </p:nvCxnSpPr>
        <p:spPr>
          <a:xfrm>
            <a:off x="546322" y="5439610"/>
            <a:ext cx="78147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A578F37-9646-337B-AE64-F5B5A11DA81A}"/>
              </a:ext>
            </a:extLst>
          </p:cNvPr>
          <p:cNvSpPr txBox="1"/>
          <p:nvPr/>
        </p:nvSpPr>
        <p:spPr>
          <a:xfrm>
            <a:off x="546322" y="5551905"/>
            <a:ext cx="25276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</a:rPr>
              <a:t>Name : Debadrita Paul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A7A1F1A3-7206-8F3F-92E7-1B8E3EF009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3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2E32E1F-B144-3955-E064-6376EBD449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User Interface – Feature Access on Home and Services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500659-963C-B1DB-7519-D6BB2CA103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616116"/>
          </a:xfrm>
        </p:spPr>
        <p:txBody>
          <a:bodyPr>
            <a:normAutofit fontScale="92500" lnSpcReduction="10000"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Home Page Access</a:t>
            </a:r>
          </a:p>
          <a:p>
            <a:pPr lvl="1"/>
            <a:r>
              <a:rPr lang="en-US" sz="1800" dirty="0">
                <a:solidFill>
                  <a:schemeClr val="bg1"/>
                </a:solidFill>
              </a:rPr>
              <a:t>A banner video showcasing the platform’s theme or welcome message.</a:t>
            </a:r>
            <a:r>
              <a:rPr lang="en-US" alt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 </a:t>
            </a:r>
          </a:p>
          <a:p>
            <a:pPr lvl="1"/>
            <a:r>
              <a:rPr lang="en-US" alt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A Facilities section highlighting the available services.</a:t>
            </a:r>
          </a:p>
          <a:p>
            <a:pPr lvl="1"/>
            <a:r>
              <a:rPr lang="en-US" alt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A Testimonial section showing approved user experiences.</a:t>
            </a:r>
          </a:p>
          <a:p>
            <a:pPr lvl="1"/>
            <a:r>
              <a:rPr lang="en-US" altLang="en-US" sz="1800" dirty="0">
                <a:solidFill>
                  <a:schemeClr val="bg1"/>
                </a:solidFill>
                <a:latin typeface="Arial" panose="020B0604020202020204" pitchFamily="34" charset="0"/>
              </a:rPr>
              <a:t>A Gallery section displaying images of services and events in carousel.</a:t>
            </a:r>
          </a:p>
          <a:p>
            <a:pPr marL="457200" lvl="1" indent="0">
              <a:buNone/>
            </a:pPr>
            <a:endParaRPr lang="en-US" dirty="0">
              <a:solidFill>
                <a:schemeClr val="bg1"/>
              </a:solidFill>
            </a:endParaRPr>
          </a:p>
          <a:p>
            <a:r>
              <a:rPr lang="en-US" sz="2800" dirty="0">
                <a:solidFill>
                  <a:schemeClr val="bg1"/>
                </a:solidFill>
              </a:rPr>
              <a:t>Catering &amp; Stationary Items Viewing</a:t>
            </a:r>
          </a:p>
          <a:p>
            <a:pPr lvl="1"/>
            <a:r>
              <a:rPr lang="en-US" altLang="en-US" sz="1600" dirty="0">
                <a:solidFill>
                  <a:schemeClr val="bg1"/>
                </a:solidFill>
                <a:latin typeface="Arial" panose="020B0604020202020204" pitchFamily="34" charset="0"/>
              </a:rPr>
              <a:t>Users can browse through individual items listed under </a:t>
            </a:r>
            <a:r>
              <a:rPr lang="en-US" altLang="en-US" sz="1600" b="1" dirty="0">
                <a:solidFill>
                  <a:schemeClr val="bg1"/>
                </a:solidFill>
                <a:latin typeface="Arial" panose="020B0604020202020204" pitchFamily="34" charset="0"/>
              </a:rPr>
              <a:t>Catering</a:t>
            </a:r>
            <a:r>
              <a:rPr lang="en-US" altLang="en-US" sz="1600" dirty="0">
                <a:solidFill>
                  <a:schemeClr val="bg1"/>
                </a:solidFill>
                <a:latin typeface="Arial" panose="020B0604020202020204" pitchFamily="34" charset="0"/>
              </a:rPr>
              <a:t> and </a:t>
            </a:r>
            <a:r>
              <a:rPr lang="en-US" altLang="en-US" sz="1600" b="1" dirty="0">
                <a:solidFill>
                  <a:schemeClr val="bg1"/>
                </a:solidFill>
                <a:latin typeface="Arial" panose="020B0604020202020204" pitchFamily="34" charset="0"/>
              </a:rPr>
              <a:t>Stationaries</a:t>
            </a:r>
            <a:r>
              <a:rPr lang="en-US" altLang="en-US" sz="1600" dirty="0">
                <a:solidFill>
                  <a:schemeClr val="bg1"/>
                </a:solidFill>
                <a:latin typeface="Arial" panose="020B0604020202020204" pitchFamily="34" charset="0"/>
              </a:rPr>
              <a:t>.</a:t>
            </a:r>
          </a:p>
          <a:p>
            <a:pPr lvl="1"/>
            <a:r>
              <a:rPr lang="en-US" altLang="en-US" sz="1600" dirty="0">
                <a:solidFill>
                  <a:schemeClr val="bg1"/>
                </a:solidFill>
                <a:latin typeface="Arial" panose="020B0604020202020204" pitchFamily="34" charset="0"/>
              </a:rPr>
              <a:t>Cart or order functionality is disabled unless the user logs in.</a:t>
            </a:r>
          </a:p>
          <a:p>
            <a:pPr lvl="1"/>
            <a:r>
              <a:rPr lang="en-US" altLang="en-US" sz="1600" dirty="0">
                <a:solidFill>
                  <a:schemeClr val="bg1"/>
                </a:solidFill>
                <a:latin typeface="Arial" panose="020B0604020202020204" pitchFamily="34" charset="0"/>
              </a:rPr>
              <a:t>Ideal for previewing available options before placing an order.</a:t>
            </a:r>
          </a:p>
          <a:p>
            <a:pPr marL="457200" lvl="1" indent="0">
              <a:buNone/>
            </a:pPr>
            <a:endParaRPr lang="en-US" sz="2400" dirty="0">
              <a:solidFill>
                <a:schemeClr val="bg1"/>
              </a:solidFill>
            </a:endParaRPr>
          </a:p>
          <a:p>
            <a:r>
              <a:rPr lang="en-US" sz="2800" dirty="0">
                <a:solidFill>
                  <a:schemeClr val="bg1"/>
                </a:solidFill>
              </a:rPr>
              <a:t>Fitness, Salon, Movie &amp; Party Hall Services</a:t>
            </a:r>
          </a:p>
          <a:p>
            <a:pPr lvl="1"/>
            <a:r>
              <a:rPr lang="en-US" altLang="en-US" sz="1600" dirty="0">
                <a:solidFill>
                  <a:schemeClr val="bg1"/>
                </a:solidFill>
                <a:latin typeface="Arial" panose="020B0604020202020204" pitchFamily="34" charset="0"/>
              </a:rPr>
              <a:t>These services are fully visible to users (including images, timings, etc.).</a:t>
            </a:r>
          </a:p>
          <a:p>
            <a:pPr lvl="1"/>
            <a:r>
              <a:rPr lang="en-US" altLang="en-US" sz="1600" dirty="0">
                <a:solidFill>
                  <a:schemeClr val="bg1"/>
                </a:solidFill>
                <a:latin typeface="Arial" panose="020B0604020202020204" pitchFamily="34" charset="0"/>
              </a:rPr>
              <a:t>Booking is restricted – users must log in to make a reservation or place an order.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67E6B708-946D-75BC-AEDA-191D66A82F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14E3CE40-9E9B-59B5-73AF-2F0EC4F918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2612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CE958E8-3E1F-B802-C37A-FDA176D1E2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Us</a:t>
            </a:r>
            <a:r>
              <a:rPr dirty="0">
                <a:solidFill>
                  <a:schemeClr val="bg1"/>
                </a:solidFill>
              </a:rPr>
              <a:t>er Signup and Login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>
                <a:solidFill>
                  <a:schemeClr val="bg1"/>
                </a:solidFill>
              </a:rPr>
              <a:t>Users can register and log in, gaining access to interactive features like adding items to the cart or booking services.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712FDFB-4CCF-23FE-04A1-654184FDFC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Us</a:t>
            </a:r>
            <a:r>
              <a:rPr dirty="0">
                <a:solidFill>
                  <a:schemeClr val="bg1"/>
                </a:solidFill>
              </a:rPr>
              <a:t>er Notifications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>
                <a:solidFill>
                  <a:schemeClr val="bg1"/>
                </a:solidFill>
              </a:rPr>
              <a:t>Once any section (Party Hall, Salon, Fitness, Catering, Stationary) is accepted, the system automatically sends a notification to the voyager, confirming the date and details.</a:t>
            </a:r>
          </a:p>
        </p:txBody>
      </p:sp>
    </p:spTree>
    <p:extLst>
      <p:ext uri="{BB962C8B-B14F-4D97-AF65-F5344CB8AC3E}">
        <p14:creationId xmlns:p14="http://schemas.microsoft.com/office/powerpoint/2010/main" val="36367133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46A465-43F5-D397-7D39-4423B44F3B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Us</a:t>
            </a:r>
            <a:r>
              <a:rPr dirty="0">
                <a:solidFill>
                  <a:schemeClr val="bg1"/>
                </a:solidFill>
              </a:rPr>
              <a:t>er Item Ordering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After logging in, voyagers can explore items, click </a:t>
            </a:r>
            <a:r>
              <a:rPr lang="en-US" b="1" dirty="0">
                <a:solidFill>
                  <a:schemeClr val="bg1"/>
                </a:solidFill>
              </a:rPr>
              <a:t>Add to Cart</a:t>
            </a:r>
            <a:r>
              <a:rPr lang="en-US" dirty="0">
                <a:solidFill>
                  <a:schemeClr val="bg1"/>
                </a:solidFill>
              </a:rPr>
              <a:t>, and proceed to checkout, making ordering seamless and intuitive.</a:t>
            </a:r>
            <a:endParaRPr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838787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CDDB735-E56B-6ABB-F8B2-DF128741EB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Us</a:t>
            </a:r>
            <a:r>
              <a:rPr dirty="0">
                <a:solidFill>
                  <a:schemeClr val="bg1"/>
                </a:solidFill>
              </a:rPr>
              <a:t>er Booking Experience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>
                <a:solidFill>
                  <a:schemeClr val="bg1"/>
                </a:solidFill>
              </a:rPr>
              <a:t>Users explore categories and click </a:t>
            </a:r>
            <a:r>
              <a:rPr lang="en-US" b="1" dirty="0">
                <a:solidFill>
                  <a:schemeClr val="bg1"/>
                </a:solidFill>
              </a:rPr>
              <a:t>Book Now</a:t>
            </a:r>
            <a:r>
              <a:rPr lang="en-US" dirty="0">
                <a:solidFill>
                  <a:schemeClr val="bg1"/>
                </a:solidFill>
              </a:rPr>
              <a:t> to open detailed booking forms, where they can submit date, time, requirements and specific requests.</a:t>
            </a:r>
          </a:p>
          <a:p>
            <a:pPr lvl="1"/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342971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132D71F-20D1-D1FB-40E6-1C2DCDD15C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solidFill>
                  <a:schemeClr val="bg1"/>
                </a:solidFill>
              </a:rPr>
              <a:t>Booking 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dirty="0">
                <a:solidFill>
                  <a:schemeClr val="bg1"/>
                </a:solidFill>
              </a:rPr>
              <a:t>Salon: </a:t>
            </a:r>
            <a:r>
              <a:rPr lang="en-US" dirty="0">
                <a:solidFill>
                  <a:schemeClr val="bg1"/>
                </a:solidFill>
              </a:rPr>
              <a:t>Salon bookings allow users to choose a time slot, date, and special requests (e.g., stylist, treatments) for a tailored experience.</a:t>
            </a:r>
            <a:endParaRPr dirty="0">
              <a:solidFill>
                <a:schemeClr val="bg1"/>
              </a:solidFill>
            </a:endParaRPr>
          </a:p>
          <a:p>
            <a:r>
              <a:rPr dirty="0">
                <a:solidFill>
                  <a:schemeClr val="bg1"/>
                </a:solidFill>
              </a:rPr>
              <a:t>Party Hall: </a:t>
            </a:r>
            <a:r>
              <a:rPr lang="en-US" dirty="0">
                <a:solidFill>
                  <a:schemeClr val="bg1"/>
                </a:solidFill>
              </a:rPr>
              <a:t>Users enter start and end times, date, and detailed requirements, ensuring their event is perfectly arranged by staff.</a:t>
            </a:r>
            <a:endParaRPr dirty="0">
              <a:solidFill>
                <a:schemeClr val="bg1"/>
              </a:solidFill>
            </a:endParaRPr>
          </a:p>
          <a:p>
            <a:r>
              <a:rPr dirty="0">
                <a:solidFill>
                  <a:schemeClr val="bg1"/>
                </a:solidFill>
              </a:rPr>
              <a:t>Fitness: </a:t>
            </a:r>
            <a:r>
              <a:rPr lang="en-US" dirty="0">
                <a:solidFill>
                  <a:schemeClr val="bg1"/>
                </a:solidFill>
              </a:rPr>
              <a:t>Users pick desired time slots and select equipment (preconfigured by admin), locking in their fitness session.</a:t>
            </a:r>
            <a:endParaRPr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436377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EEB5B95-F4EB-1F18-122B-C5F058AEF3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solidFill>
                  <a:schemeClr val="bg1"/>
                </a:solidFill>
              </a:rPr>
              <a:t>Movie Booking 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Users can select movie date, time, number of seats, specific seat numbers, and food items, then confirm their booking in one smooth flow.</a:t>
            </a:r>
            <a:endParaRPr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56132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282CD16-2AF5-3CB4-1DC3-858A744F0A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solidFill>
                  <a:schemeClr val="bg1"/>
                </a:solidFill>
              </a:rPr>
              <a:t>Booking Status Display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Us</a:t>
            </a:r>
            <a:r>
              <a:rPr dirty="0">
                <a:solidFill>
                  <a:schemeClr val="bg1"/>
                </a:solidFill>
              </a:rPr>
              <a:t>ers can see booking status (Booked / Accepted) after submitting requests</a:t>
            </a:r>
            <a:r>
              <a:rPr lang="en-US" dirty="0">
                <a:solidFill>
                  <a:schemeClr val="bg1"/>
                </a:solidFill>
              </a:rPr>
              <a:t>.</a:t>
            </a:r>
            <a:endParaRPr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176342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E9D0E16-6094-12B3-EA02-F05C59831E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3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8046B5D-C02D-B826-DB17-CC026C9EF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User Feedback and Testimonial Submission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F30002-C428-9A6B-C3AD-DA7772525D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solidFill>
                  <a:schemeClr val="bg1"/>
                </a:solidFill>
              </a:rPr>
              <a:t>Users can submit their </a:t>
            </a:r>
            <a:r>
              <a:rPr lang="en-US" b="1" dirty="0">
                <a:solidFill>
                  <a:schemeClr val="bg1"/>
                </a:solidFill>
              </a:rPr>
              <a:t>feedback</a:t>
            </a:r>
            <a:r>
              <a:rPr lang="en-US" dirty="0">
                <a:solidFill>
                  <a:schemeClr val="bg1"/>
                </a:solidFill>
              </a:rPr>
              <a:t> and </a:t>
            </a:r>
            <a:r>
              <a:rPr lang="en-US" b="1" dirty="0">
                <a:solidFill>
                  <a:schemeClr val="bg1"/>
                </a:solidFill>
              </a:rPr>
              <a:t>testimonial</a:t>
            </a:r>
            <a:r>
              <a:rPr lang="en-US" dirty="0">
                <a:solidFill>
                  <a:schemeClr val="bg1"/>
                </a:solidFill>
              </a:rPr>
              <a:t> through the platform.</a:t>
            </a:r>
          </a:p>
          <a:p>
            <a:r>
              <a:rPr lang="en-US" dirty="0">
                <a:solidFill>
                  <a:schemeClr val="bg1"/>
                </a:solidFill>
              </a:rPr>
              <a:t>A simple form is provided for users to share their experience, opinions, or suggestions.</a:t>
            </a:r>
          </a:p>
          <a:p>
            <a:r>
              <a:rPr lang="en-US" dirty="0">
                <a:solidFill>
                  <a:schemeClr val="bg1"/>
                </a:solidFill>
              </a:rPr>
              <a:t>All submitted testimonials are </a:t>
            </a:r>
            <a:r>
              <a:rPr lang="en-US" b="1" dirty="0">
                <a:solidFill>
                  <a:schemeClr val="bg1"/>
                </a:solidFill>
              </a:rPr>
              <a:t>not visible publicly by default</a:t>
            </a:r>
            <a:r>
              <a:rPr lang="en-US" dirty="0">
                <a:solidFill>
                  <a:schemeClr val="bg1"/>
                </a:solidFill>
              </a:rPr>
              <a:t> – they require admin review. </a:t>
            </a:r>
          </a:p>
          <a:p>
            <a:r>
              <a:rPr lang="en-US" dirty="0">
                <a:solidFill>
                  <a:schemeClr val="bg1"/>
                </a:solidFill>
              </a:rPr>
              <a:t>This ensures that only genuine and relevant testimonials appear on the frontend.</a:t>
            </a:r>
          </a:p>
        </p:txBody>
      </p:sp>
    </p:spTree>
    <p:extLst>
      <p:ext uri="{BB962C8B-B14F-4D97-AF65-F5344CB8AC3E}">
        <p14:creationId xmlns:p14="http://schemas.microsoft.com/office/powerpoint/2010/main" val="26665527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299FE03-D7CB-2AEB-6CF4-C56DB76B1B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8FBF282-D99E-748A-2DD4-23A5A7B2B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Contact Us, FAQ, About 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A42C46-795E-5DD1-FD49-555F14F268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Beyond bookings, users can access informational pages like </a:t>
            </a:r>
            <a:r>
              <a:rPr lang="en-US" b="1" dirty="0">
                <a:solidFill>
                  <a:schemeClr val="bg1"/>
                </a:solidFill>
              </a:rPr>
              <a:t>Contact Us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b="1" dirty="0">
                <a:solidFill>
                  <a:schemeClr val="bg1"/>
                </a:solidFill>
              </a:rPr>
              <a:t>FAQ</a:t>
            </a:r>
            <a:r>
              <a:rPr lang="en-US" dirty="0">
                <a:solidFill>
                  <a:schemeClr val="bg1"/>
                </a:solidFill>
              </a:rPr>
              <a:t>, and </a:t>
            </a:r>
            <a:r>
              <a:rPr lang="en-US" b="1" dirty="0">
                <a:solidFill>
                  <a:schemeClr val="bg1"/>
                </a:solidFill>
              </a:rPr>
              <a:t>About Us</a:t>
            </a:r>
            <a:r>
              <a:rPr lang="en-US" dirty="0">
                <a:solidFill>
                  <a:schemeClr val="bg1"/>
                </a:solidFill>
              </a:rPr>
              <a:t> for extra guidance and context.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16247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A165C0F-695E-3BA9-5720-651E5E09F0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solidFill>
                  <a:schemeClr val="bg1"/>
                </a:solidFill>
              </a:rPr>
              <a:t>Slot Usage Logic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>
                <a:solidFill>
                  <a:schemeClr val="bg1"/>
                </a:solidFill>
              </a:rPr>
              <a:t>SlotUsageSalon route ensures max slot use. E.g., if a slot allows 4 users, 5th cannot book.</a:t>
            </a:r>
          </a:p>
        </p:txBody>
      </p:sp>
    </p:spTree>
    <p:extLst>
      <p:ext uri="{BB962C8B-B14F-4D97-AF65-F5344CB8AC3E}">
        <p14:creationId xmlns:p14="http://schemas.microsoft.com/office/powerpoint/2010/main" val="34634042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6E5D0E3-15CB-D68E-3196-BB3CDB6067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304707B-41C6-9AEA-6AC8-0A09C6292A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bg1"/>
                </a:solidFill>
              </a:rPr>
              <a:t>Admin Add Category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D13EF6-E858-C6AE-3E38-DA21FB8E30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bg1"/>
                </a:solidFill>
              </a:rPr>
              <a:t>Admins can create new categories like </a:t>
            </a:r>
            <a:r>
              <a:rPr lang="en-US" sz="2400" b="1" dirty="0">
                <a:solidFill>
                  <a:schemeClr val="bg1"/>
                </a:solidFill>
              </a:rPr>
              <a:t>Catering, Movie, Stationary, Party Hall, Salon, Fitness</a:t>
            </a:r>
            <a:r>
              <a:rPr lang="en-US" sz="2400" dirty="0">
                <a:solidFill>
                  <a:schemeClr val="bg1"/>
                </a:solidFill>
              </a:rPr>
              <a:t>. This enables organized content grouping, making it easy for voyagers to browse services and for admins to keep the system flexible for future additions.</a:t>
            </a:r>
          </a:p>
        </p:txBody>
      </p:sp>
    </p:spTree>
    <p:extLst>
      <p:ext uri="{BB962C8B-B14F-4D97-AF65-F5344CB8AC3E}">
        <p14:creationId xmlns:p14="http://schemas.microsoft.com/office/powerpoint/2010/main" val="16629055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2C9D060-C5DC-B374-AFC8-CE035552D8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solidFill>
                  <a:schemeClr val="bg1"/>
                </a:solidFill>
              </a:rPr>
              <a:t>Admin: Item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100" dirty="0">
                <a:solidFill>
                  <a:schemeClr val="bg1"/>
                </a:solidFill>
              </a:rPr>
              <a:t>Within each category, admins can add detailed items (e.g., catering dishes, fitness packages). Each item includes names, prices, descriptions, and visuals, ensuring a rich menu of services visible to users.</a:t>
            </a:r>
          </a:p>
          <a:p>
            <a:r>
              <a:rPr lang="en-US" sz="2000" dirty="0">
                <a:solidFill>
                  <a:schemeClr val="bg1"/>
                </a:solidFill>
              </a:rPr>
              <a:t>Facilities</a:t>
            </a:r>
            <a:r>
              <a:rPr sz="2000" dirty="0">
                <a:solidFill>
                  <a:schemeClr val="bg1"/>
                </a:solidFill>
              </a:rPr>
              <a:t> includ</a:t>
            </a:r>
            <a:r>
              <a:rPr lang="en-US" sz="2000" dirty="0">
                <a:solidFill>
                  <a:schemeClr val="bg1"/>
                </a:solidFill>
              </a:rPr>
              <a:t>ing create, update and status change happened </a:t>
            </a:r>
            <a:r>
              <a:rPr sz="2000" dirty="0">
                <a:solidFill>
                  <a:schemeClr val="bg1"/>
                </a:solidFill>
              </a:rPr>
              <a:t>:</a:t>
            </a:r>
          </a:p>
          <a:p>
            <a:pPr lvl="1"/>
            <a:r>
              <a:rPr sz="2000" dirty="0">
                <a:solidFill>
                  <a:schemeClr val="bg1"/>
                </a:solidFill>
              </a:rPr>
              <a:t>Catering</a:t>
            </a:r>
          </a:p>
          <a:p>
            <a:pPr lvl="1"/>
            <a:r>
              <a:rPr sz="2000" dirty="0">
                <a:solidFill>
                  <a:schemeClr val="bg1"/>
                </a:solidFill>
              </a:rPr>
              <a:t>Movie</a:t>
            </a:r>
          </a:p>
          <a:p>
            <a:pPr lvl="1"/>
            <a:r>
              <a:rPr sz="2000" dirty="0">
                <a:solidFill>
                  <a:schemeClr val="bg1"/>
                </a:solidFill>
              </a:rPr>
              <a:t>Stationary</a:t>
            </a:r>
          </a:p>
          <a:p>
            <a:pPr lvl="1"/>
            <a:r>
              <a:rPr sz="2000" dirty="0">
                <a:solidFill>
                  <a:schemeClr val="bg1"/>
                </a:solidFill>
              </a:rPr>
              <a:t>Party Hall</a:t>
            </a:r>
          </a:p>
          <a:p>
            <a:pPr lvl="1"/>
            <a:r>
              <a:rPr sz="2000" dirty="0">
                <a:solidFill>
                  <a:schemeClr val="bg1"/>
                </a:solidFill>
              </a:rPr>
              <a:t>Salon</a:t>
            </a:r>
          </a:p>
          <a:p>
            <a:pPr lvl="1"/>
            <a:r>
              <a:rPr sz="2000" dirty="0">
                <a:solidFill>
                  <a:schemeClr val="bg1"/>
                </a:solidFill>
              </a:rPr>
              <a:t>Fitness</a:t>
            </a:r>
            <a:endParaRPr lang="en-US" sz="2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203AD58F-27C0-B57A-99BF-7D69C5A7B3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3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C01ECC2-5CA9-E5BB-2876-F798D06F8C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38499"/>
            <a:ext cx="8229600" cy="800183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Admin - Add Movie Hall Service Form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72004D-D1E3-6227-D39C-FC5EC72759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38989"/>
            <a:ext cx="8229600" cy="5454315"/>
          </a:xfrm>
        </p:spPr>
        <p:txBody>
          <a:bodyPr>
            <a:norm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Description:</a:t>
            </a:r>
          </a:p>
          <a:p>
            <a:pPr lvl="1"/>
            <a:r>
              <a:rPr lang="en-US" sz="1400" dirty="0">
                <a:solidFill>
                  <a:schemeClr val="bg1"/>
                </a:solidFill>
              </a:rPr>
              <a:t>This form is a part of the admin facility management panel where movie-related entertainment services can be added under a specific category (e.g., “Horror”, “Drama”, “Kids”). The form enables admins to fully configure showtime, movie details, seat pricing, food options, and more, all in one place. </a:t>
            </a:r>
          </a:p>
          <a:p>
            <a:r>
              <a:rPr lang="en-US" sz="1800" b="1" dirty="0">
                <a:solidFill>
                  <a:schemeClr val="bg1"/>
                </a:solidFill>
              </a:rPr>
              <a:t>Key Functional Sections:</a:t>
            </a:r>
          </a:p>
          <a:p>
            <a:pPr lvl="1"/>
            <a:r>
              <a:rPr lang="en-US" sz="1400" b="1" dirty="0">
                <a:solidFill>
                  <a:schemeClr val="bg1"/>
                </a:solidFill>
              </a:rPr>
              <a:t>Select Show Time Slots</a:t>
            </a:r>
            <a:r>
              <a:rPr lang="en-US" sz="1400" dirty="0">
                <a:solidFill>
                  <a:schemeClr val="bg1"/>
                </a:solidFill>
              </a:rPr>
              <a:t>: </a:t>
            </a:r>
            <a:r>
              <a:rPr lang="en-US" sz="1200" dirty="0">
                <a:solidFill>
                  <a:schemeClr val="bg1"/>
                </a:solidFill>
              </a:rPr>
              <a:t>Admin can add multiple showtimes using a dropdown and an "Add Time" button. This helps schedule movies across the day in defined slots.</a:t>
            </a:r>
          </a:p>
          <a:p>
            <a:pPr lvl="1"/>
            <a:r>
              <a:rPr lang="en-US" sz="1400" b="1" dirty="0">
                <a:solidFill>
                  <a:schemeClr val="bg1"/>
                </a:solidFill>
              </a:rPr>
              <a:t>Add Food Items: </a:t>
            </a:r>
            <a:r>
              <a:rPr lang="en-US" sz="1200" dirty="0">
                <a:solidFill>
                  <a:schemeClr val="bg1"/>
                </a:solidFill>
              </a:rPr>
              <a:t>A dynamic section to input food title, image URL, and price. Admin can add multiple food items associated with that show using the "+" button.</a:t>
            </a:r>
            <a:endParaRPr lang="en-US" sz="1200" b="1" dirty="0">
              <a:solidFill>
                <a:schemeClr val="bg1"/>
              </a:solidFill>
            </a:endParaRPr>
          </a:p>
          <a:p>
            <a:pPr lvl="1"/>
            <a:r>
              <a:rPr lang="en-US" sz="1400" b="1" dirty="0">
                <a:solidFill>
                  <a:schemeClr val="bg1"/>
                </a:solidFill>
              </a:rPr>
              <a:t>Movie Information Inputs:</a:t>
            </a:r>
          </a:p>
          <a:p>
            <a:pPr lvl="2"/>
            <a:r>
              <a:rPr lang="en-US" sz="1200" b="1" dirty="0">
                <a:solidFill>
                  <a:schemeClr val="bg1"/>
                </a:solidFill>
              </a:rPr>
              <a:t>Movie Title &amp; Info Image</a:t>
            </a:r>
            <a:r>
              <a:rPr lang="en-US" sz="1200" dirty="0">
                <a:solidFill>
                  <a:schemeClr val="bg1"/>
                </a:solidFill>
              </a:rPr>
              <a:t> – Name of the movie and promotional image URL.</a:t>
            </a:r>
          </a:p>
          <a:p>
            <a:pPr lvl="2"/>
            <a:r>
              <a:rPr lang="en-US" sz="1200" b="1" dirty="0">
                <a:solidFill>
                  <a:schemeClr val="bg1"/>
                </a:solidFill>
              </a:rPr>
              <a:t>Total Seats</a:t>
            </a:r>
            <a:r>
              <a:rPr lang="en-US" sz="1200" dirty="0">
                <a:solidFill>
                  <a:schemeClr val="bg1"/>
                </a:solidFill>
              </a:rPr>
              <a:t> – Define how many seats are available for the show.</a:t>
            </a:r>
          </a:p>
          <a:p>
            <a:pPr lvl="2"/>
            <a:r>
              <a:rPr lang="en-US" sz="1200" b="1" dirty="0">
                <a:solidFill>
                  <a:schemeClr val="bg1"/>
                </a:solidFill>
              </a:rPr>
              <a:t>Hall Type</a:t>
            </a:r>
            <a:r>
              <a:rPr lang="en-US" sz="1200" dirty="0">
                <a:solidFill>
                  <a:schemeClr val="bg1"/>
                </a:solidFill>
              </a:rPr>
              <a:t> – Dropdown selection for hall type (e.g., Standard, AC, 3D).</a:t>
            </a:r>
          </a:p>
          <a:p>
            <a:pPr lvl="2"/>
            <a:r>
              <a:rPr lang="en-US" sz="1200" b="1" dirty="0">
                <a:solidFill>
                  <a:schemeClr val="bg1"/>
                </a:solidFill>
              </a:rPr>
              <a:t>Released Date</a:t>
            </a:r>
            <a:r>
              <a:rPr lang="en-US" sz="1200" dirty="0">
                <a:solidFill>
                  <a:schemeClr val="bg1"/>
                </a:solidFill>
              </a:rPr>
              <a:t> – Calendar picker for movie release date.</a:t>
            </a:r>
          </a:p>
          <a:p>
            <a:pPr lvl="2"/>
            <a:r>
              <a:rPr lang="en-US" sz="1200" b="1" dirty="0">
                <a:solidFill>
                  <a:schemeClr val="bg1"/>
                </a:solidFill>
              </a:rPr>
              <a:t>Movie Timing</a:t>
            </a:r>
            <a:r>
              <a:rPr lang="en-US" sz="1200" dirty="0">
                <a:solidFill>
                  <a:schemeClr val="bg1"/>
                </a:solidFill>
              </a:rPr>
              <a:t> – Time of the screening.</a:t>
            </a:r>
          </a:p>
          <a:p>
            <a:pPr lvl="2"/>
            <a:r>
              <a:rPr lang="en-US" sz="1200" b="1" dirty="0">
                <a:solidFill>
                  <a:schemeClr val="bg1"/>
                </a:solidFill>
              </a:rPr>
              <a:t>Movie Language</a:t>
            </a:r>
            <a:r>
              <a:rPr lang="en-US" sz="1200" dirty="0">
                <a:solidFill>
                  <a:schemeClr val="bg1"/>
                </a:solidFill>
              </a:rPr>
              <a:t> – Enter primary spoken language for display.</a:t>
            </a:r>
          </a:p>
          <a:p>
            <a:pPr lvl="2"/>
            <a:r>
              <a:rPr lang="en-US" sz="1200" b="1" dirty="0">
                <a:solidFill>
                  <a:schemeClr val="bg1"/>
                </a:solidFill>
              </a:rPr>
              <a:t>Seat Price</a:t>
            </a:r>
            <a:r>
              <a:rPr lang="en-US" sz="1200" dirty="0">
                <a:solidFill>
                  <a:schemeClr val="bg1"/>
                </a:solidFill>
              </a:rPr>
              <a:t> – Ticket cost for each seat.</a:t>
            </a:r>
            <a:endParaRPr lang="en-US" sz="1400" b="1" dirty="0">
              <a:solidFill>
                <a:schemeClr val="bg1"/>
              </a:solidFill>
            </a:endParaRPr>
          </a:p>
          <a:p>
            <a:pPr lvl="1"/>
            <a:r>
              <a:rPr lang="en-US" sz="1400" b="1" dirty="0">
                <a:solidFill>
                  <a:schemeClr val="bg1"/>
                </a:solidFill>
              </a:rPr>
              <a:t>Movie Description (with Editor Toolbar):</a:t>
            </a:r>
          </a:p>
          <a:p>
            <a:pPr lvl="2"/>
            <a:r>
              <a:rPr lang="en-US" sz="1200" dirty="0">
                <a:solidFill>
                  <a:schemeClr val="bg1"/>
                </a:solidFill>
              </a:rPr>
              <a:t>A rich text editor is integrated with basic formatting controls (Bold, Italic, Underline, H1, H2, Link). This allows the admin to add descriptive movie content attractively.</a:t>
            </a:r>
            <a:endParaRPr lang="en-US" sz="1200" b="1" dirty="0">
              <a:solidFill>
                <a:schemeClr val="bg1"/>
              </a:solidFill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8F0A7528-B924-2A86-8450-24859A6CD8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38500"/>
            <a:ext cx="239168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615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AF2FBBD-80EA-7BA0-61E0-4643457843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6E56B5E-732E-842C-D16F-1DEAC98983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56147"/>
            <a:ext cx="8229600" cy="858253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Admin – Add Salon Service Interface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F995A0-E075-F277-5673-F90111D8A7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71074"/>
            <a:ext cx="8229600" cy="4955089"/>
          </a:xfrm>
        </p:spPr>
        <p:txBody>
          <a:bodyPr>
            <a:norm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Service Timing &amp; Slot Management:</a:t>
            </a:r>
          </a:p>
          <a:p>
            <a:pPr lvl="1"/>
            <a:r>
              <a:rPr lang="en-US" sz="1400" dirty="0">
                <a:solidFill>
                  <a:schemeClr val="bg1"/>
                </a:solidFill>
              </a:rPr>
              <a:t>Admin can specify:</a:t>
            </a:r>
          </a:p>
          <a:p>
            <a:pPr lvl="2"/>
            <a:r>
              <a:rPr lang="en-US" sz="1200" dirty="0">
                <a:solidFill>
                  <a:schemeClr val="bg1"/>
                </a:solidFill>
              </a:rPr>
              <a:t>Start time using a dropdown selector.</a:t>
            </a:r>
          </a:p>
          <a:p>
            <a:pPr lvl="2"/>
            <a:r>
              <a:rPr lang="en-US" sz="1200" dirty="0">
                <a:solidFill>
                  <a:schemeClr val="bg1"/>
                </a:solidFill>
              </a:rPr>
              <a:t>Service Provider Count which defines how many appointments can be offered during that time.</a:t>
            </a:r>
          </a:p>
          <a:p>
            <a:pPr lvl="2"/>
            <a:r>
              <a:rPr lang="en-US" sz="1200" dirty="0">
                <a:solidFill>
                  <a:schemeClr val="bg1"/>
                </a:solidFill>
              </a:rPr>
              <a:t>Ability to dynamically add or remove time blocks using the “+ Add Service” button.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sz="1800" b="1" dirty="0">
                <a:solidFill>
                  <a:schemeClr val="bg1"/>
                </a:solidFill>
              </a:rPr>
              <a:t>Add New Salon Service Section:</a:t>
            </a:r>
          </a:p>
          <a:p>
            <a:pPr lvl="1"/>
            <a:r>
              <a:rPr lang="en-US" sz="1400" b="1" dirty="0">
                <a:solidFill>
                  <a:schemeClr val="bg1"/>
                </a:solidFill>
              </a:rPr>
              <a:t>Service Name:</a:t>
            </a:r>
            <a:r>
              <a:rPr lang="en-US" sz="1400" dirty="0">
                <a:solidFill>
                  <a:schemeClr val="bg1"/>
                </a:solidFill>
              </a:rPr>
              <a:t> Name/title of the specific beauty or wellness service.</a:t>
            </a:r>
          </a:p>
          <a:p>
            <a:pPr lvl="1"/>
            <a:r>
              <a:rPr lang="en-US" altLang="en-US" sz="1400" b="1" dirty="0">
                <a:solidFill>
                  <a:schemeClr val="bg1"/>
                </a:solidFill>
              </a:rPr>
              <a:t>Service Time</a:t>
            </a:r>
            <a:r>
              <a:rPr lang="en-US" altLang="en-US" sz="1400" dirty="0">
                <a:solidFill>
                  <a:schemeClr val="bg1"/>
                </a:solidFill>
              </a:rPr>
              <a:t>: Duration of the session (e.g., 30 mins, 1 hour).</a:t>
            </a:r>
          </a:p>
          <a:p>
            <a:pPr lvl="1"/>
            <a:r>
              <a:rPr lang="en-US" altLang="en-US" sz="1400" b="1" dirty="0">
                <a:solidFill>
                  <a:schemeClr val="bg1"/>
                </a:solidFill>
              </a:rPr>
              <a:t>Image</a:t>
            </a:r>
            <a:r>
              <a:rPr lang="en-US" altLang="en-US" sz="1400" dirty="0">
                <a:solidFill>
                  <a:schemeClr val="bg1"/>
                </a:solidFill>
              </a:rPr>
              <a:t>: Upload field or URL input for a visual representation of the service (e.g., facial image).</a:t>
            </a:r>
          </a:p>
          <a:p>
            <a:pPr lvl="1"/>
            <a:r>
              <a:rPr lang="en-US" altLang="en-US" sz="1400" b="1" dirty="0">
                <a:solidFill>
                  <a:schemeClr val="bg1"/>
                </a:solidFill>
              </a:rPr>
              <a:t>Price</a:t>
            </a:r>
            <a:r>
              <a:rPr lang="en-US" altLang="en-US" sz="1400" dirty="0">
                <a:solidFill>
                  <a:schemeClr val="bg1"/>
                </a:solidFill>
              </a:rPr>
              <a:t>: Cost per session.</a:t>
            </a:r>
          </a:p>
          <a:p>
            <a:pPr lvl="1"/>
            <a:r>
              <a:rPr lang="en-US" altLang="en-US" sz="1400" b="1" dirty="0">
                <a:solidFill>
                  <a:schemeClr val="bg1"/>
                </a:solidFill>
              </a:rPr>
              <a:t>Description Box</a:t>
            </a:r>
            <a:r>
              <a:rPr lang="en-US" altLang="en-US" sz="1400" dirty="0">
                <a:solidFill>
                  <a:schemeClr val="bg1"/>
                </a:solidFill>
              </a:rPr>
              <a:t>: Rich text editor supporting:</a:t>
            </a:r>
          </a:p>
          <a:p>
            <a:pPr lvl="2"/>
            <a:r>
              <a:rPr lang="en-US" altLang="en-US" sz="1400" dirty="0">
                <a:solidFill>
                  <a:schemeClr val="bg1"/>
                </a:solidFill>
              </a:rPr>
              <a:t>Bold, Italic, Underline</a:t>
            </a:r>
          </a:p>
          <a:p>
            <a:pPr lvl="2"/>
            <a:r>
              <a:rPr lang="en-US" altLang="en-US" sz="1400" dirty="0">
                <a:solidFill>
                  <a:schemeClr val="bg1"/>
                </a:solidFill>
              </a:rPr>
              <a:t>Heading levels (H1, H2)</a:t>
            </a:r>
          </a:p>
          <a:p>
            <a:pPr lvl="2"/>
            <a:r>
              <a:rPr lang="en-US" altLang="en-US" sz="1400" dirty="0">
                <a:solidFill>
                  <a:schemeClr val="bg1"/>
                </a:solidFill>
              </a:rPr>
              <a:t>Hyperlinks for redirection or offers</a:t>
            </a:r>
            <a:endParaRPr lang="en-US" sz="1400" b="1" dirty="0">
              <a:solidFill>
                <a:schemeClr val="bg1"/>
              </a:solidFill>
            </a:endParaRPr>
          </a:p>
          <a:p>
            <a:r>
              <a:rPr lang="en-US" sz="1800" b="1" dirty="0">
                <a:solidFill>
                  <a:schemeClr val="bg1"/>
                </a:solidFill>
              </a:rPr>
              <a:t>One-click Save:</a:t>
            </a:r>
          </a:p>
          <a:p>
            <a:pPr lvl="1"/>
            <a:r>
              <a:rPr lang="en-US" sz="1400" dirty="0">
                <a:solidFill>
                  <a:schemeClr val="bg1"/>
                </a:solidFill>
              </a:rPr>
              <a:t>A dedicated </a:t>
            </a:r>
            <a:r>
              <a:rPr lang="en-US" sz="1400" b="1" dirty="0">
                <a:solidFill>
                  <a:schemeClr val="bg1"/>
                </a:solidFill>
              </a:rPr>
              <a:t>“Save Service”</a:t>
            </a:r>
            <a:r>
              <a:rPr lang="en-US" sz="1400" dirty="0">
                <a:solidFill>
                  <a:schemeClr val="bg1"/>
                </a:solidFill>
              </a:rPr>
              <a:t> button at the bottom stores the new salon service with real-time form validation.</a:t>
            </a:r>
            <a:endParaRPr lang="en-US" sz="1400" b="1" dirty="0">
              <a:solidFill>
                <a:schemeClr val="bg1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B38A7FB9-CAE9-236C-78B0-7EB8398E1A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8788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A180E5B-24C7-4E2A-B80C-2BF5AC29A3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A7CD579-D646-60BC-8FB8-1FB0F0657C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4274"/>
            <a:ext cx="8229600" cy="721894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Admin – Add Fitness Service Interface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1C7953-FDCF-99E6-9B81-B7F904F16F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7012"/>
            <a:ext cx="8229600" cy="4979152"/>
          </a:xfrm>
        </p:spPr>
        <p:txBody>
          <a:bodyPr>
            <a:norm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Select Service Slots</a:t>
            </a:r>
            <a:r>
              <a:rPr lang="en-US" sz="1600" dirty="0">
                <a:solidFill>
                  <a:schemeClr val="bg1"/>
                </a:solidFill>
              </a:rPr>
              <a:t>:</a:t>
            </a:r>
          </a:p>
          <a:p>
            <a:pPr lvl="1"/>
            <a:r>
              <a:rPr lang="en-US" sz="1600" dirty="0">
                <a:solidFill>
                  <a:schemeClr val="bg1"/>
                </a:solidFill>
              </a:rPr>
              <a:t>Admin can choose available time slots from a dropdown and click </a:t>
            </a:r>
            <a:r>
              <a:rPr lang="en-US" sz="1600" b="1" dirty="0">
                <a:solidFill>
                  <a:schemeClr val="bg1"/>
                </a:solidFill>
              </a:rPr>
              <a:t>“Add Time”</a:t>
            </a:r>
            <a:r>
              <a:rPr lang="en-US" sz="1600" dirty="0">
                <a:solidFill>
                  <a:schemeClr val="bg1"/>
                </a:solidFill>
              </a:rPr>
              <a:t> to schedule sessions.</a:t>
            </a:r>
          </a:p>
          <a:p>
            <a:r>
              <a:rPr lang="en-US" sz="1600" b="1" dirty="0">
                <a:solidFill>
                  <a:schemeClr val="bg1"/>
                </a:solidFill>
              </a:rPr>
              <a:t>Equipment Items Section</a:t>
            </a:r>
            <a:r>
              <a:rPr lang="en-US" sz="1600" dirty="0">
                <a:solidFill>
                  <a:schemeClr val="bg1"/>
                </a:solidFill>
              </a:rPr>
              <a:t>:</a:t>
            </a:r>
          </a:p>
          <a:p>
            <a:pPr lvl="1"/>
            <a:r>
              <a:rPr lang="en-US" sz="1600" dirty="0">
                <a:solidFill>
                  <a:schemeClr val="bg1"/>
                </a:solidFill>
              </a:rPr>
              <a:t>Enter </a:t>
            </a:r>
            <a:r>
              <a:rPr lang="en-US" sz="1600" b="1" dirty="0">
                <a:solidFill>
                  <a:schemeClr val="bg1"/>
                </a:solidFill>
              </a:rPr>
              <a:t>Title</a:t>
            </a:r>
            <a:r>
              <a:rPr lang="en-US" sz="1600" dirty="0">
                <a:solidFill>
                  <a:schemeClr val="bg1"/>
                </a:solidFill>
              </a:rPr>
              <a:t> and </a:t>
            </a:r>
            <a:r>
              <a:rPr lang="en-US" sz="1600" b="1" dirty="0">
                <a:solidFill>
                  <a:schemeClr val="bg1"/>
                </a:solidFill>
              </a:rPr>
              <a:t>Image URL</a:t>
            </a:r>
            <a:r>
              <a:rPr lang="en-US" sz="1600" dirty="0">
                <a:solidFill>
                  <a:schemeClr val="bg1"/>
                </a:solidFill>
              </a:rPr>
              <a:t> of gym equipment.</a:t>
            </a:r>
          </a:p>
          <a:p>
            <a:pPr lvl="1"/>
            <a:r>
              <a:rPr lang="en-US" sz="1600" dirty="0">
                <a:solidFill>
                  <a:schemeClr val="bg1"/>
                </a:solidFill>
              </a:rPr>
              <a:t>Use the </a:t>
            </a:r>
            <a:r>
              <a:rPr lang="en-US" sz="1600" b="1" dirty="0">
                <a:solidFill>
                  <a:schemeClr val="bg1"/>
                </a:solidFill>
              </a:rPr>
              <a:t>“+ Add Equipment”</a:t>
            </a:r>
            <a:r>
              <a:rPr lang="en-US" sz="1600" dirty="0">
                <a:solidFill>
                  <a:schemeClr val="bg1"/>
                </a:solidFill>
              </a:rPr>
              <a:t> button to include multiple equipment items dynamically.</a:t>
            </a:r>
          </a:p>
          <a:p>
            <a:r>
              <a:rPr lang="en-US" sz="1600" b="1" dirty="0">
                <a:solidFill>
                  <a:schemeClr val="bg1"/>
                </a:solidFill>
              </a:rPr>
              <a:t>Service Details Section</a:t>
            </a:r>
            <a:r>
              <a:rPr lang="en-US" sz="1600" dirty="0">
                <a:solidFill>
                  <a:schemeClr val="bg1"/>
                </a:solidFill>
              </a:rPr>
              <a:t>:</a:t>
            </a:r>
          </a:p>
          <a:p>
            <a:pPr lvl="1"/>
            <a:r>
              <a:rPr lang="en-US" sz="1200" b="1" dirty="0">
                <a:solidFill>
                  <a:schemeClr val="bg1"/>
                </a:solidFill>
              </a:rPr>
              <a:t>Service Name</a:t>
            </a:r>
            <a:r>
              <a:rPr lang="en-US" sz="1200" dirty="0">
                <a:solidFill>
                  <a:schemeClr val="bg1"/>
                </a:solidFill>
              </a:rPr>
              <a:t>: Name of the fitness service (e.g., Yoga, Cardio Training).</a:t>
            </a:r>
          </a:p>
          <a:p>
            <a:pPr lvl="1"/>
            <a:r>
              <a:rPr lang="en-US" altLang="en-US" sz="1200" b="1" dirty="0">
                <a:solidFill>
                  <a:schemeClr val="bg1"/>
                </a:solidFill>
                <a:latin typeface="Arial" panose="020B0604020202020204" pitchFamily="34" charset="0"/>
              </a:rPr>
              <a:t>Trainer Name</a:t>
            </a:r>
            <a:r>
              <a:rPr lang="en-US" altLang="en-US" sz="1200" dirty="0">
                <a:solidFill>
                  <a:schemeClr val="bg1"/>
                </a:solidFill>
                <a:latin typeface="Arial" panose="020B0604020202020204" pitchFamily="34" charset="0"/>
              </a:rPr>
              <a:t>: Assigned trainer for the service.</a:t>
            </a:r>
          </a:p>
          <a:p>
            <a:pPr lvl="1"/>
            <a:r>
              <a:rPr lang="en-US" altLang="en-US" sz="1200" b="1" dirty="0">
                <a:solidFill>
                  <a:schemeClr val="bg1"/>
                </a:solidFill>
                <a:latin typeface="Arial" panose="020B0604020202020204" pitchFamily="34" charset="0"/>
              </a:rPr>
              <a:t>Price</a:t>
            </a:r>
            <a:r>
              <a:rPr lang="en-US" altLang="en-US" sz="1200" dirty="0">
                <a:solidFill>
                  <a:schemeClr val="bg1"/>
                </a:solidFill>
                <a:latin typeface="Arial" panose="020B0604020202020204" pitchFamily="34" charset="0"/>
              </a:rPr>
              <a:t>: Cost of the fitness session.</a:t>
            </a:r>
          </a:p>
          <a:p>
            <a:pPr lvl="1"/>
            <a:r>
              <a:rPr lang="en-US" altLang="en-US" sz="1200" b="1" dirty="0">
                <a:solidFill>
                  <a:schemeClr val="bg1"/>
                </a:solidFill>
                <a:latin typeface="Arial" panose="020B0604020202020204" pitchFamily="34" charset="0"/>
              </a:rPr>
              <a:t>Image</a:t>
            </a:r>
            <a:r>
              <a:rPr lang="en-US" altLang="en-US" sz="1200" dirty="0">
                <a:solidFill>
                  <a:schemeClr val="bg1"/>
                </a:solidFill>
                <a:latin typeface="Arial" panose="020B0604020202020204" pitchFamily="34" charset="0"/>
              </a:rPr>
              <a:t>: URL for a service image.</a:t>
            </a:r>
          </a:p>
          <a:p>
            <a:pPr lvl="1"/>
            <a:r>
              <a:rPr lang="en-US" altLang="en-US" sz="1200" b="1" dirty="0">
                <a:solidFill>
                  <a:schemeClr val="bg1"/>
                </a:solidFill>
                <a:latin typeface="Arial" panose="020B0604020202020204" pitchFamily="34" charset="0"/>
              </a:rPr>
              <a:t>Description Editor</a:t>
            </a:r>
            <a:r>
              <a:rPr lang="en-US" altLang="en-US" sz="1200" dirty="0">
                <a:solidFill>
                  <a:schemeClr val="bg1"/>
                </a:solidFill>
                <a:latin typeface="Arial" panose="020B0604020202020204" pitchFamily="34" charset="0"/>
              </a:rPr>
              <a:t>: Rich text area to describe the service in detail using formatting options like Bold, Italic, Underline, H1, H2, and Links.</a:t>
            </a:r>
          </a:p>
          <a:p>
            <a:pPr lvl="1"/>
            <a:endParaRPr lang="en-US" sz="1200" dirty="0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C0AF1DEB-03B2-D295-763C-32050C8193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357D0AE1-AE89-E349-1D93-8994563895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33733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6024675-A398-EF8A-1BA7-A862A3F63C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CB4460-77B5-4559-0353-C750B5FE79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Using TipTap Extension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E38023-FA8C-1C56-C80C-76DAF42DD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100" dirty="0">
                <a:solidFill>
                  <a:schemeClr val="bg1"/>
                </a:solidFill>
              </a:rPr>
              <a:t>TipTap provides a powerful WYSIWYG editor for admins to upload rich text descriptions. They can add formatted text, links, highlights, images, and more — ensuring that every service description is visually engaging.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56718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333C051-9765-3D96-5C7B-8EB7041D5F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E0D05A4-091D-C03C-2603-0B2292EE5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Admin: Sidebar Navigation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85366B-4337-633A-3DEC-2D25ED17E6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100" dirty="0">
                <a:solidFill>
                  <a:schemeClr val="bg1"/>
                </a:solidFill>
              </a:rPr>
              <a:t>Dashboard</a:t>
            </a:r>
          </a:p>
          <a:p>
            <a:r>
              <a:rPr lang="en-US" altLang="en-US" sz="2100" dirty="0">
                <a:solidFill>
                  <a:schemeClr val="bg1"/>
                </a:solidFill>
              </a:rPr>
              <a:t>Category Management</a:t>
            </a:r>
          </a:p>
          <a:p>
            <a:r>
              <a:rPr lang="en-US" altLang="en-US" sz="2100" dirty="0">
                <a:solidFill>
                  <a:schemeClr val="bg1"/>
                </a:solidFill>
              </a:rPr>
              <a:t>Facilities</a:t>
            </a:r>
          </a:p>
          <a:p>
            <a:r>
              <a:rPr lang="en-US" altLang="en-US" sz="2100" dirty="0">
                <a:solidFill>
                  <a:schemeClr val="bg1"/>
                </a:solidFill>
              </a:rPr>
              <a:t>View User</a:t>
            </a:r>
          </a:p>
          <a:p>
            <a:r>
              <a:rPr lang="en-US" altLang="en-US" sz="2100" dirty="0">
                <a:solidFill>
                  <a:schemeClr val="bg1"/>
                </a:solidFill>
              </a:rPr>
              <a:t>View Gallery, Contact, Feedback, and Testimonial under Miscellaneous</a:t>
            </a:r>
          </a:p>
          <a:p>
            <a:endParaRPr lang="en-US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934229EA-3EE6-D582-629B-0D88B68BA2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6327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F2636F6-B535-DF0B-5012-189A04FF20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solidFill>
                  <a:schemeClr val="bg1"/>
                </a:solidFill>
              </a:rPr>
              <a:t>Admin: Gallery Upload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Admins upload gallery images link that appear on the user-facing frontend gallery carousel, helping market the cruise experience. From party halls to spa facilities, these images showcase the luxury of Aurelia.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ED6D85D-4D90-001E-F83F-E02772AF8F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solidFill>
                  <a:schemeClr val="bg1"/>
                </a:solidFill>
              </a:rPr>
              <a:t>Admin: Contact Form Visibility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>
                <a:solidFill>
                  <a:schemeClr val="bg1"/>
                </a:solidFill>
              </a:rPr>
              <a:t>Admin can view submissions from the contact form filled by </a:t>
            </a:r>
            <a:r>
              <a:rPr lang="en-US" dirty="0">
                <a:solidFill>
                  <a:schemeClr val="bg1"/>
                </a:solidFill>
              </a:rPr>
              <a:t>any frontend user</a:t>
            </a:r>
            <a:r>
              <a:rPr dirty="0">
                <a:solidFill>
                  <a:schemeClr val="bg1"/>
                </a:solidFill>
              </a:rPr>
              <a:t>.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When a user fills out the Contact Us form, admin can view the inquiries in the dashboard, respond promptly, and track customer feedback, creating a stronger connection between staff and users</a:t>
            </a:r>
            <a:r>
              <a:rPr lang="en-US" dirty="0"/>
              <a:t>.</a:t>
            </a:r>
          </a:p>
          <a:p>
            <a:endParaRPr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D38440D-8637-5840-9EB5-B9B6BD3B00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3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E2E2C45-BBBA-A458-5FA8-E7F7888585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Admin Review and Approval 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70A8BE-1D1A-827F-82EC-7A6A80BD82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>
                <a:solidFill>
                  <a:schemeClr val="bg1"/>
                </a:solidFill>
              </a:rPr>
              <a:t>Admin can view a list of </a:t>
            </a:r>
            <a:r>
              <a:rPr lang="en-US" b="1" dirty="0">
                <a:solidFill>
                  <a:schemeClr val="bg1"/>
                </a:solidFill>
              </a:rPr>
              <a:t>all submitted feedback and testimonials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  <a:p>
            <a:r>
              <a:rPr lang="en-US" dirty="0">
                <a:solidFill>
                  <a:schemeClr val="bg1"/>
                </a:solidFill>
              </a:rPr>
              <a:t>Each testimonial has a </a:t>
            </a:r>
            <a:r>
              <a:rPr lang="en-US" b="1" dirty="0">
                <a:solidFill>
                  <a:schemeClr val="bg1"/>
                </a:solidFill>
              </a:rPr>
              <a:t>checkbox</a:t>
            </a:r>
            <a:r>
              <a:rPr lang="en-US" dirty="0">
                <a:solidFill>
                  <a:schemeClr val="bg1"/>
                </a:solidFill>
              </a:rPr>
              <a:t> to mark it as </a:t>
            </a:r>
            <a:r>
              <a:rPr lang="en-US" b="1" dirty="0">
                <a:solidFill>
                  <a:schemeClr val="bg1"/>
                </a:solidFill>
              </a:rPr>
              <a:t>"Active"</a:t>
            </a:r>
            <a:r>
              <a:rPr lang="en-US" dirty="0">
                <a:solidFill>
                  <a:schemeClr val="bg1"/>
                </a:solidFill>
              </a:rPr>
              <a:t> – only then it becomes visible on the frontend.</a:t>
            </a:r>
          </a:p>
          <a:p>
            <a:r>
              <a:rPr lang="en-US" dirty="0">
                <a:solidFill>
                  <a:schemeClr val="bg1"/>
                </a:solidFill>
              </a:rPr>
              <a:t>Admin can </a:t>
            </a:r>
            <a:r>
              <a:rPr lang="en-US" b="1" dirty="0">
                <a:solidFill>
                  <a:schemeClr val="bg1"/>
                </a:solidFill>
              </a:rPr>
              <a:t>click "View"</a:t>
            </a:r>
            <a:r>
              <a:rPr lang="en-US" dirty="0">
                <a:solidFill>
                  <a:schemeClr val="bg1"/>
                </a:solidFill>
              </a:rPr>
              <a:t> to open and read a single feedback/testimonial in detail.</a:t>
            </a:r>
          </a:p>
          <a:p>
            <a:r>
              <a:rPr lang="en-US" dirty="0">
                <a:solidFill>
                  <a:schemeClr val="bg1"/>
                </a:solidFill>
              </a:rPr>
              <a:t>This system allows for </a:t>
            </a:r>
            <a:r>
              <a:rPr lang="en-US" b="1" dirty="0">
                <a:solidFill>
                  <a:schemeClr val="bg1"/>
                </a:solidFill>
              </a:rPr>
              <a:t>moderation</a:t>
            </a:r>
            <a:r>
              <a:rPr lang="en-US" dirty="0">
                <a:solidFill>
                  <a:schemeClr val="bg1"/>
                </a:solidFill>
              </a:rPr>
              <a:t> and </a:t>
            </a:r>
            <a:r>
              <a:rPr lang="en-US" b="1" dirty="0">
                <a:solidFill>
                  <a:schemeClr val="bg1"/>
                </a:solidFill>
              </a:rPr>
              <a:t>control</a:t>
            </a:r>
            <a:r>
              <a:rPr lang="en-US" dirty="0">
                <a:solidFill>
                  <a:schemeClr val="bg1"/>
                </a:solidFill>
              </a:rPr>
              <a:t> over the published testimonials, ensuring quality and relevance.</a:t>
            </a:r>
          </a:p>
        </p:txBody>
      </p:sp>
    </p:spTree>
    <p:extLst>
      <p:ext uri="{BB962C8B-B14F-4D97-AF65-F5344CB8AC3E}">
        <p14:creationId xmlns:p14="http://schemas.microsoft.com/office/powerpoint/2010/main" val="1425379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1C38347-F032-C442-BA74-E97662F8E9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solidFill>
                  <a:schemeClr val="bg1"/>
                </a:solidFill>
              </a:rPr>
              <a:t>User Role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>
                <a:solidFill>
                  <a:schemeClr val="bg1"/>
                </a:solidFill>
              </a:rPr>
              <a:t>Admins can onboard </a:t>
            </a:r>
            <a:r>
              <a:rPr lang="en-US" b="1" dirty="0">
                <a:solidFill>
                  <a:schemeClr val="bg1"/>
                </a:solidFill>
              </a:rPr>
              <a:t>Manager, Supervisor, Head Cook</a:t>
            </a:r>
            <a:r>
              <a:rPr lang="en-US" dirty="0">
                <a:solidFill>
                  <a:schemeClr val="bg1"/>
                </a:solidFill>
              </a:rPr>
              <a:t> roles, setting initial usernames and passwords. This creates role-based access control, ensuring each department sees only its assigned tasks.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6804433-0B81-5C03-8825-6AF136FFA1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solidFill>
                  <a:schemeClr val="bg1"/>
                </a:solidFill>
              </a:rPr>
              <a:t>User Role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Each role logs into a personalized dashboard using their username and password where they can update their name, password, and view assigned tasks. This secure access ensures department-level autonomy without compromising system-wide integrity.</a:t>
            </a:r>
          </a:p>
          <a:p>
            <a:endParaRPr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B51CB73-46C1-8849-2C98-1D0FF50C19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solidFill>
                  <a:schemeClr val="bg1"/>
                </a:solidFill>
              </a:rPr>
              <a:t>Manager Functionalities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>
                <a:solidFill>
                  <a:schemeClr val="bg1"/>
                </a:solidFill>
              </a:rPr>
              <a:t>The Manager can accept or reject bookings for Party Hall, Salon, and Fitness services. For movie bookings, they simply monitor details, ensuring smooth coordination without approvals.</a:t>
            </a:r>
          </a:p>
          <a:p>
            <a:r>
              <a:rPr lang="en-US" dirty="0">
                <a:solidFill>
                  <a:schemeClr val="bg1"/>
                </a:solidFill>
              </a:rPr>
              <a:t>Manager can change their name.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12C4933-9B9C-34CE-DB76-A74C0CDE4B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solidFill>
                  <a:schemeClr val="bg1"/>
                </a:solidFill>
              </a:rPr>
              <a:t>Head </a:t>
            </a:r>
            <a:r>
              <a:rPr lang="en-US" dirty="0">
                <a:solidFill>
                  <a:schemeClr val="bg1"/>
                </a:solidFill>
              </a:rPr>
              <a:t>C</a:t>
            </a:r>
            <a:r>
              <a:rPr dirty="0">
                <a:solidFill>
                  <a:schemeClr val="bg1"/>
                </a:solidFill>
              </a:rPr>
              <a:t>ook Functionalities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>
                <a:solidFill>
                  <a:schemeClr val="bg1"/>
                </a:solidFill>
              </a:rPr>
              <a:t>The Head Cook views catering orders submitted by users and marks them accepted when ready, maintaining tight control over kitchen operations and ensuring prompt food service.</a:t>
            </a:r>
          </a:p>
          <a:p>
            <a:endParaRPr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3E50AB3-6CF4-F324-4048-B6FFF9D110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solidFill>
                  <a:schemeClr val="bg1"/>
                </a:solidFill>
              </a:rPr>
              <a:t>Supervisor Functionalities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>
                <a:solidFill>
                  <a:schemeClr val="bg1"/>
                </a:solidFill>
              </a:rPr>
              <a:t>Supervisors handle stationary orders, confirming deliveries and updating statuses, ensuring that onboard logistics stay on track.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2ED68AC-6AB5-CF49-C325-EF7D33D04E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F48EBCE-E25A-B049-D31A-113BE7A9A7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Voyager Booking Status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4E163C-C51B-3577-DF68-E6BF8119E3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Voyagers can review all bookings, see live statuses (e.g., </a:t>
            </a:r>
            <a:r>
              <a:rPr lang="en-US" b="1" dirty="0">
                <a:solidFill>
                  <a:schemeClr val="bg1"/>
                </a:solidFill>
              </a:rPr>
              <a:t>Booking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b="1" dirty="0">
                <a:solidFill>
                  <a:schemeClr val="bg1"/>
                </a:solidFill>
              </a:rPr>
              <a:t>Accepted</a:t>
            </a:r>
            <a:r>
              <a:rPr lang="en-US" dirty="0">
                <a:solidFill>
                  <a:schemeClr val="bg1"/>
                </a:solidFill>
              </a:rPr>
              <a:t>), and track progress.</a:t>
            </a:r>
          </a:p>
        </p:txBody>
      </p:sp>
    </p:spTree>
    <p:extLst>
      <p:ext uri="{BB962C8B-B14F-4D97-AF65-F5344CB8AC3E}">
        <p14:creationId xmlns:p14="http://schemas.microsoft.com/office/powerpoint/2010/main" val="23282322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2313DB2-DC8E-2083-E795-58B9D5FB19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48B38CC-94AC-206E-8E2B-8500DFC82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100" dirty="0">
                <a:solidFill>
                  <a:schemeClr val="bg1"/>
                </a:solidFill>
              </a:rPr>
              <a:t>Admin, Manager, Head Cook, Supervisor Dashboards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5BFA21-43F6-254C-5DBA-B5F4524813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Each role’s dashboard is tailored, showing relevant metrics, action buttons, and analytics — ensuring smooth daily operations.</a:t>
            </a:r>
          </a:p>
        </p:txBody>
      </p:sp>
    </p:spTree>
    <p:extLst>
      <p:ext uri="{BB962C8B-B14F-4D97-AF65-F5344CB8AC3E}">
        <p14:creationId xmlns:p14="http://schemas.microsoft.com/office/powerpoint/2010/main" val="332485767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A55555A-A783-7ABC-3B20-55F7EF3F42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solidFill>
                  <a:schemeClr val="bg1"/>
                </a:solidFill>
              </a:rPr>
              <a:t>Frontend Libraries Used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aceternity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ui</a:t>
            </a:r>
            <a:r>
              <a:rPr lang="en-US" dirty="0">
                <a:solidFill>
                  <a:schemeClr val="bg1"/>
                </a:solidFill>
              </a:rPr>
              <a:t>, </a:t>
            </a:r>
          </a:p>
          <a:p>
            <a:r>
              <a:rPr lang="en-US" dirty="0">
                <a:solidFill>
                  <a:schemeClr val="bg1"/>
                </a:solidFill>
              </a:rPr>
              <a:t>@headlessui/react,  </a:t>
            </a:r>
          </a:p>
          <a:p>
            <a:r>
              <a:rPr lang="en-US" dirty="0">
                <a:solidFill>
                  <a:schemeClr val="bg1"/>
                </a:solidFill>
              </a:rPr>
              <a:t>@heroicons/react, </a:t>
            </a:r>
          </a:p>
          <a:p>
            <a:r>
              <a:rPr dirty="0">
                <a:solidFill>
                  <a:schemeClr val="bg1"/>
                </a:solidFill>
              </a:rPr>
              <a:t>@emotion/react, </a:t>
            </a:r>
            <a:endParaRPr lang="en-US" dirty="0">
              <a:solidFill>
                <a:schemeClr val="bg1"/>
              </a:solidFill>
            </a:endParaRPr>
          </a:p>
          <a:p>
            <a:r>
              <a:rPr dirty="0">
                <a:solidFill>
                  <a:schemeClr val="bg1"/>
                </a:solidFill>
              </a:rPr>
              <a:t>@mui/material, </a:t>
            </a:r>
            <a:endParaRPr lang="en-US" dirty="0">
              <a:solidFill>
                <a:schemeClr val="bg1"/>
              </a:solidFill>
            </a:endParaRPr>
          </a:p>
          <a:p>
            <a:r>
              <a:rPr dirty="0">
                <a:solidFill>
                  <a:schemeClr val="bg1"/>
                </a:solidFill>
              </a:rPr>
              <a:t>@tiptap/react, </a:t>
            </a:r>
            <a:endParaRPr lang="en-US" dirty="0">
              <a:solidFill>
                <a:schemeClr val="bg1"/>
              </a:solidFill>
            </a:endParaRPr>
          </a:p>
          <a:p>
            <a:r>
              <a:rPr dirty="0">
                <a:solidFill>
                  <a:schemeClr val="bg1"/>
                </a:solidFill>
              </a:rPr>
              <a:t>@tailwindcss/vite, </a:t>
            </a:r>
            <a:endParaRPr lang="en-US" dirty="0">
              <a:solidFill>
                <a:schemeClr val="bg1"/>
              </a:solidFill>
            </a:endParaRPr>
          </a:p>
          <a:p>
            <a:r>
              <a:rPr dirty="0">
                <a:solidFill>
                  <a:schemeClr val="bg1"/>
                </a:solidFill>
              </a:rPr>
              <a:t>framer-motion, 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slick-carousel</a:t>
            </a:r>
          </a:p>
          <a:p>
            <a:r>
              <a:rPr lang="en-US" dirty="0">
                <a:solidFill>
                  <a:schemeClr val="bg1"/>
                </a:solidFill>
              </a:rPr>
              <a:t>date-</a:t>
            </a:r>
            <a:r>
              <a:rPr lang="en-US" dirty="0" err="1">
                <a:solidFill>
                  <a:schemeClr val="bg1"/>
                </a:solidFill>
              </a:rPr>
              <a:t>fns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 err="1">
                <a:solidFill>
                  <a:schemeClr val="bg1"/>
                </a:solidFill>
              </a:rPr>
              <a:t>dayjs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react-</a:t>
            </a:r>
            <a:r>
              <a:rPr lang="en-US" dirty="0" err="1">
                <a:solidFill>
                  <a:schemeClr val="bg1"/>
                </a:solidFill>
              </a:rPr>
              <a:t>datepicker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tailwind-merge</a:t>
            </a:r>
          </a:p>
          <a:p>
            <a:r>
              <a:rPr dirty="0" err="1">
                <a:solidFill>
                  <a:schemeClr val="bg1"/>
                </a:solidFill>
              </a:rPr>
              <a:t>axios</a:t>
            </a:r>
            <a:r>
              <a:rPr dirty="0">
                <a:solidFill>
                  <a:schemeClr val="bg1"/>
                </a:solidFill>
              </a:rPr>
              <a:t>, </a:t>
            </a:r>
            <a:endParaRPr lang="en-US" dirty="0">
              <a:solidFill>
                <a:schemeClr val="bg1"/>
              </a:solidFill>
            </a:endParaRPr>
          </a:p>
          <a:p>
            <a:r>
              <a:rPr dirty="0">
                <a:solidFill>
                  <a:schemeClr val="bg1"/>
                </a:solidFill>
              </a:rPr>
              <a:t>react-icons, etc.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and other modern libraries, Aurelia offers an elegant, interactive, and responsive experience.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2F001F5-BA17-722C-50DF-8049FC0D0B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3999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Backend Architecture &amp;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sz="2800" dirty="0">
                <a:solidFill>
                  <a:schemeClr val="bg1"/>
                </a:solidFill>
              </a:rPr>
              <a:t>MongoDB database</a:t>
            </a:r>
          </a:p>
          <a:p>
            <a:r>
              <a:rPr sz="2800" dirty="0">
                <a:solidFill>
                  <a:schemeClr val="bg1"/>
                </a:solidFill>
              </a:rPr>
              <a:t>Connection: mongodb://127.0.0.1:27017/cruise_management</a:t>
            </a:r>
            <a:endParaRPr lang="en-US" sz="2800" dirty="0">
              <a:solidFill>
                <a:schemeClr val="bg1"/>
              </a:solidFill>
            </a:endParaRPr>
          </a:p>
          <a:p>
            <a:r>
              <a:rPr lang="en-US" sz="2600" dirty="0">
                <a:solidFill>
                  <a:schemeClr val="bg1"/>
                </a:solidFill>
              </a:rPr>
              <a:t>The system uses a MongoDB database (mongodb://127.0.0.1:27017/cruise_management) with models like </a:t>
            </a:r>
            <a:r>
              <a:rPr lang="en-US" sz="2600" b="1" dirty="0" err="1">
                <a:solidFill>
                  <a:schemeClr val="bg1"/>
                </a:solidFill>
              </a:rPr>
              <a:t>BeautySalon</a:t>
            </a:r>
            <a:r>
              <a:rPr lang="en-US" sz="2600" b="1" dirty="0">
                <a:solidFill>
                  <a:schemeClr val="bg1"/>
                </a:solidFill>
              </a:rPr>
              <a:t>, Booking, </a:t>
            </a:r>
            <a:r>
              <a:rPr lang="en-US" sz="2600" b="1" dirty="0" err="1">
                <a:solidFill>
                  <a:schemeClr val="bg1"/>
                </a:solidFill>
              </a:rPr>
              <a:t>CateringOrder</a:t>
            </a:r>
            <a:r>
              <a:rPr lang="en-US" sz="2600" b="1" dirty="0">
                <a:solidFill>
                  <a:schemeClr val="bg1"/>
                </a:solidFill>
              </a:rPr>
              <a:t>, Contact, Fitness, </a:t>
            </a:r>
            <a:r>
              <a:rPr lang="en-US" sz="2600" b="1" dirty="0" err="1">
                <a:solidFill>
                  <a:schemeClr val="bg1"/>
                </a:solidFill>
              </a:rPr>
              <a:t>FoodItem</a:t>
            </a:r>
            <a:r>
              <a:rPr lang="en-US" sz="2600" b="1" dirty="0">
                <a:solidFill>
                  <a:schemeClr val="bg1"/>
                </a:solidFill>
              </a:rPr>
              <a:t>, Gallery, </a:t>
            </a:r>
            <a:r>
              <a:rPr lang="en-US" sz="2600" b="1" dirty="0" err="1">
                <a:solidFill>
                  <a:schemeClr val="bg1"/>
                </a:solidFill>
              </a:rPr>
              <a:t>MovieBooking</a:t>
            </a:r>
            <a:r>
              <a:rPr lang="en-US" sz="2600" b="1" dirty="0">
                <a:solidFill>
                  <a:schemeClr val="bg1"/>
                </a:solidFill>
              </a:rPr>
              <a:t>, Notification, </a:t>
            </a:r>
            <a:r>
              <a:rPr lang="en-US" sz="2600" b="1" dirty="0" err="1">
                <a:solidFill>
                  <a:schemeClr val="bg1"/>
                </a:solidFill>
              </a:rPr>
              <a:t>PartyHall</a:t>
            </a:r>
            <a:r>
              <a:rPr lang="en-US" sz="2600" b="1" dirty="0">
                <a:solidFill>
                  <a:schemeClr val="bg1"/>
                </a:solidFill>
              </a:rPr>
              <a:t>, SlotUsageSalon, </a:t>
            </a:r>
            <a:r>
              <a:rPr lang="en-US" sz="2600" b="1" dirty="0" err="1">
                <a:solidFill>
                  <a:schemeClr val="bg1"/>
                </a:solidFill>
              </a:rPr>
              <a:t>StationaryOrder</a:t>
            </a:r>
            <a:r>
              <a:rPr lang="en-US" sz="2600" b="1" dirty="0">
                <a:solidFill>
                  <a:schemeClr val="bg1"/>
                </a:solidFill>
              </a:rPr>
              <a:t>, User</a:t>
            </a:r>
            <a:r>
              <a:rPr lang="en-US" sz="2600" dirty="0">
                <a:solidFill>
                  <a:schemeClr val="bg1"/>
                </a:solidFill>
              </a:rPr>
              <a:t>.</a:t>
            </a:r>
            <a:endParaRPr sz="26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A406BC0-208C-1001-8BCD-C52A896657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solidFill>
                  <a:schemeClr val="bg1"/>
                </a:solidFill>
              </a:rPr>
              <a:t>Routing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>
                <a:solidFill>
                  <a:schemeClr val="bg1"/>
                </a:solidFill>
              </a:rPr>
              <a:t>Route Groups:</a:t>
            </a:r>
          </a:p>
          <a:p>
            <a:pPr lvl="1"/>
            <a:r>
              <a:rPr dirty="0">
                <a:solidFill>
                  <a:schemeClr val="bg1"/>
                </a:solidFill>
              </a:rPr>
              <a:t> /admin</a:t>
            </a:r>
          </a:p>
          <a:p>
            <a:pPr lvl="1"/>
            <a:r>
              <a:rPr dirty="0">
                <a:solidFill>
                  <a:schemeClr val="bg1"/>
                </a:solidFill>
              </a:rPr>
              <a:t> /common</a:t>
            </a:r>
          </a:p>
          <a:p>
            <a:pPr lvl="1"/>
            <a:r>
              <a:rPr dirty="0">
                <a:solidFill>
                  <a:schemeClr val="bg1"/>
                </a:solidFill>
              </a:rPr>
              <a:t> /voyager</a:t>
            </a:r>
          </a:p>
          <a:p>
            <a:pPr lvl="1"/>
            <a:r>
              <a:rPr dirty="0">
                <a:solidFill>
                  <a:schemeClr val="bg1"/>
                </a:solidFill>
              </a:rPr>
              <a:t> /headcook</a:t>
            </a:r>
          </a:p>
          <a:p>
            <a:pPr lvl="1"/>
            <a:r>
              <a:rPr dirty="0">
                <a:solidFill>
                  <a:schemeClr val="bg1"/>
                </a:solidFill>
              </a:rPr>
              <a:t> /supervisor</a:t>
            </a:r>
            <a:endParaRPr lang="en-US" dirty="0">
              <a:solidFill>
                <a:schemeClr val="bg1"/>
              </a:solidFill>
            </a:endParaRPr>
          </a:p>
          <a:p>
            <a:pPr lvl="1"/>
            <a:r>
              <a:rPr lang="en-US" dirty="0">
                <a:solidFill>
                  <a:schemeClr val="bg1"/>
                </a:solidFill>
              </a:rPr>
              <a:t> /user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A6A7934-6776-214C-43BD-80492C31BD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solidFill>
                  <a:schemeClr val="bg1"/>
                </a:solidFill>
              </a:rPr>
              <a:t>Dashboards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>
                <a:solidFill>
                  <a:schemeClr val="bg1"/>
                </a:solidFill>
              </a:rPr>
              <a:t>Separate dashboards for:</a:t>
            </a:r>
          </a:p>
          <a:p>
            <a:pPr lvl="1"/>
            <a:r>
              <a:rPr dirty="0">
                <a:solidFill>
                  <a:schemeClr val="bg1"/>
                </a:solidFill>
              </a:rPr>
              <a:t>Admin</a:t>
            </a:r>
          </a:p>
          <a:p>
            <a:pPr lvl="1"/>
            <a:r>
              <a:rPr dirty="0">
                <a:solidFill>
                  <a:schemeClr val="bg1"/>
                </a:solidFill>
              </a:rPr>
              <a:t>Manager</a:t>
            </a:r>
          </a:p>
          <a:p>
            <a:pPr lvl="1"/>
            <a:r>
              <a:rPr dirty="0">
                <a:solidFill>
                  <a:schemeClr val="bg1"/>
                </a:solidFill>
              </a:rPr>
              <a:t>Headcook</a:t>
            </a:r>
          </a:p>
          <a:p>
            <a:pPr lvl="1"/>
            <a:r>
              <a:rPr dirty="0">
                <a:solidFill>
                  <a:schemeClr val="bg1"/>
                </a:solidFill>
              </a:rPr>
              <a:t>Supervisor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BC27DC2-3C24-9476-C742-1E871608D3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63C3D49-E56E-FC32-D1CA-682B2EC59A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Aurelia Project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6B3210-7B3A-E9FB-A2D2-E4AEBE6237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Aurelia represents a full-stack solution for cruise management, blending operational control, elegant design, and voyager satisfaction — redefining how cruise services operate in the digital age.</a:t>
            </a:r>
          </a:p>
        </p:txBody>
      </p:sp>
    </p:spTree>
    <p:extLst>
      <p:ext uri="{BB962C8B-B14F-4D97-AF65-F5344CB8AC3E}">
        <p14:creationId xmlns:p14="http://schemas.microsoft.com/office/powerpoint/2010/main" val="5733635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9A1AF5D-0301-9E74-C4D9-A55371E0F5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Thank You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 dirty="0">
                <a:solidFill>
                  <a:schemeClr val="bg1"/>
                </a:solidFill>
              </a:rPr>
              <a:t>Cruise Management System - Aurelia</a:t>
            </a:r>
          </a:p>
          <a:p>
            <a:r>
              <a:rPr sz="2000" dirty="0">
                <a:solidFill>
                  <a:schemeClr val="bg1"/>
                </a:solidFill>
              </a:rPr>
              <a:t>Elegant | Nautical | Luxury | Modern | Minimal</a:t>
            </a:r>
            <a:endParaRPr lang="en-US" sz="2000" dirty="0">
              <a:solidFill>
                <a:schemeClr val="bg1"/>
              </a:solidFill>
            </a:endParaRPr>
          </a:p>
          <a:p>
            <a:pPr>
              <a:buFont typeface="Arial" panose="020B0604020202020204" pitchFamily="34" charset="0"/>
              <a:buChar char="•"/>
              <a:defRPr sz="2000"/>
            </a:pPr>
            <a:r>
              <a:rPr lang="en-US" dirty="0">
                <a:solidFill>
                  <a:schemeClr val="bg1"/>
                </a:solidFill>
              </a:rPr>
              <a:t>Thank you for reviewing this weather app project!</a:t>
            </a:r>
          </a:p>
          <a:p>
            <a:pPr>
              <a:buFont typeface="Arial" panose="020B0604020202020204" pitchFamily="34" charset="0"/>
              <a:buChar char="•"/>
              <a:defRPr sz="2000"/>
            </a:pPr>
            <a:r>
              <a:rPr lang="en-US" dirty="0">
                <a:solidFill>
                  <a:schemeClr val="bg1"/>
                </a:solidFill>
              </a:rPr>
              <a:t>Feel free to explore the code on GitHub or test the </a:t>
            </a:r>
            <a:r>
              <a:rPr lang="en-US" dirty="0">
                <a:solidFill>
                  <a:schemeClr val="bg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Live demo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881</TotalTime>
  <Words>1960</Words>
  <Application>Microsoft Office PowerPoint</Application>
  <PresentationFormat>On-screen Show (4:3)</PresentationFormat>
  <Paragraphs>176</Paragraphs>
  <Slides>35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Cruise Project Overview: Aurelia</vt:lpstr>
      <vt:lpstr>User Interface – Feature Access on Home and Services</vt:lpstr>
      <vt:lpstr>User Signup and Login</vt:lpstr>
      <vt:lpstr>User Notifications</vt:lpstr>
      <vt:lpstr>User Item Ordering</vt:lpstr>
      <vt:lpstr>User Booking Experience</vt:lpstr>
      <vt:lpstr>Booking Forms</vt:lpstr>
      <vt:lpstr>Movie Booking System</vt:lpstr>
      <vt:lpstr>Booking Status Display</vt:lpstr>
      <vt:lpstr>User Feedback and Testimonial Submission</vt:lpstr>
      <vt:lpstr>Contact Us, FAQ, About Us</vt:lpstr>
      <vt:lpstr>Slot Usage Logic</vt:lpstr>
      <vt:lpstr>Admin Add Category</vt:lpstr>
      <vt:lpstr>Admin: Item Management</vt:lpstr>
      <vt:lpstr>Admin - Add Movie Hall Service Form</vt:lpstr>
      <vt:lpstr>Admin – Add Salon Service Interface</vt:lpstr>
      <vt:lpstr>Admin – Add Fitness Service Interface</vt:lpstr>
      <vt:lpstr>Using TipTap Extension</vt:lpstr>
      <vt:lpstr>Admin: Sidebar Navigation</vt:lpstr>
      <vt:lpstr>Admin: Gallery Upload</vt:lpstr>
      <vt:lpstr>Admin: Contact Form Visibility</vt:lpstr>
      <vt:lpstr>Admin Review and Approval System</vt:lpstr>
      <vt:lpstr>User Role Management</vt:lpstr>
      <vt:lpstr>User Role Dashboard</vt:lpstr>
      <vt:lpstr>Manager Functionalities</vt:lpstr>
      <vt:lpstr>Head Cook Functionalities</vt:lpstr>
      <vt:lpstr>Supervisor Functionalities</vt:lpstr>
      <vt:lpstr>Voyager Booking Status</vt:lpstr>
      <vt:lpstr>Admin, Manager, Head Cook, Supervisor Dashboards</vt:lpstr>
      <vt:lpstr>Frontend Libraries Used</vt:lpstr>
      <vt:lpstr>Backend Architecture &amp; Models</vt:lpstr>
      <vt:lpstr>Routing Overview</vt:lpstr>
      <vt:lpstr>Dashboards Overview</vt:lpstr>
      <vt:lpstr>Aurelia Project Summary</vt:lpstr>
      <vt:lpstr>Thank You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Debadrita Paul</cp:lastModifiedBy>
  <cp:revision>4</cp:revision>
  <dcterms:created xsi:type="dcterms:W3CDTF">2013-01-27T09:14:16Z</dcterms:created>
  <dcterms:modified xsi:type="dcterms:W3CDTF">2025-06-26T18:33:38Z</dcterms:modified>
  <cp:category/>
</cp:coreProperties>
</file>